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orient="horz" pos="1728">
          <p15:clr>
            <a:srgbClr val="000000"/>
          </p15:clr>
        </p15:guide>
        <p15:guide id="3" orient="horz" pos="336">
          <p15:clr>
            <a:srgbClr val="000000"/>
          </p15:clr>
        </p15:guide>
        <p15:guide id="4" orient="horz" pos="552">
          <p15:clr>
            <a:srgbClr val="000000"/>
          </p15:clr>
        </p15:guide>
        <p15:guide id="5" orient="horz" pos="3984">
          <p15:clr>
            <a:srgbClr val="000000"/>
          </p15:clr>
        </p15:guide>
        <p15:guide id="6" pos="2880">
          <p15:clr>
            <a:srgbClr val="000000"/>
          </p15:clr>
        </p15:guide>
        <p15:guide id="7" pos="1484">
          <p15:clr>
            <a:srgbClr val="000000"/>
          </p15:clr>
        </p15:guide>
        <p15:guide id="8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9CBEA0-76B1-44CC-8DB1-BEED4A2828AC}">
  <a:tblStyle styleId="{E89CBEA0-76B1-44CC-8DB1-BEED4A2828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728" orient="horz"/>
        <p:guide pos="336" orient="horz"/>
        <p:guide pos="552" orient="horz"/>
        <p:guide pos="3984" orient="horz"/>
        <p:guide pos="2880"/>
        <p:guide pos="1484"/>
        <p:guide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116012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grafico" type="chart">
  <p:cSld name="CHAR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1116013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2" type="chart"/>
          </p:nvPr>
        </p:nvSpPr>
        <p:spPr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abella" type="tbl">
  <p:cSld name="TAB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1116013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testo e contenuto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1116013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116013" y="1752600"/>
            <a:ext cx="370363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972050" y="1752600"/>
            <a:ext cx="37036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 rot="5400000">
            <a:off x="5002213" y="2193925"/>
            <a:ext cx="5457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 rot="5400000">
            <a:off x="1146176" y="379413"/>
            <a:ext cx="5457825" cy="551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 rot="5400000">
            <a:off x="2838449" y="30163"/>
            <a:ext cx="4114800" cy="75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3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3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1116013" y="1752600"/>
            <a:ext cx="370363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972050" y="1752600"/>
            <a:ext cx="37036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15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1" name="Google Shape;11;p1"/>
            <p:cNvSpPr txBox="1"/>
            <p:nvPr/>
          </p:nvSpPr>
          <p:spPr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 txBox="1"/>
            <p:nvPr/>
          </p:nvSpPr>
          <p:spPr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1116012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2243137" y="795337"/>
            <a:ext cx="61388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111" name="Google Shape;111;p16"/>
          <p:cNvGrpSpPr/>
          <p:nvPr/>
        </p:nvGrpSpPr>
        <p:grpSpPr>
          <a:xfrm>
            <a:off x="0" y="-19050"/>
            <a:ext cx="9144000" cy="7256462"/>
            <a:chOff x="-6" y="0"/>
            <a:chExt cx="5760" cy="4571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-6" y="0"/>
              <a:ext cx="5760" cy="2160"/>
            </a:xfrm>
            <a:prstGeom prst="rect">
              <a:avLst/>
            </a:prstGeom>
            <a:solidFill>
              <a:srgbClr val="C0CE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3" name="Google Shape;11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6" y="1979"/>
              <a:ext cx="5760" cy="25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ctrTitle"/>
          </p:nvPr>
        </p:nvSpPr>
        <p:spPr>
          <a:xfrm>
            <a:off x="914400" y="1122362"/>
            <a:ext cx="7010400" cy="2687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Resilient Microservices Architecture</a:t>
            </a:r>
            <a:br>
              <a:rPr b="1" i="0" lang="en-US" sz="28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for Real-Time Seismic Signal Classification</a:t>
            </a:r>
            <a:b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60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9" name="Google Shape;119;p17"/>
          <p:cNvSpPr txBox="1"/>
          <p:nvPr>
            <p:ph idx="1" type="subTitle"/>
          </p:nvPr>
        </p:nvSpPr>
        <p:spPr>
          <a:xfrm>
            <a:off x="1223962" y="2476500"/>
            <a:ext cx="66325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b="0" i="1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At-least-once ingestion</a:t>
            </a:r>
            <a:br>
              <a:rPr b="0" i="1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Replica-based processing</a:t>
            </a:r>
            <a:br>
              <a:rPr b="0" i="1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 isolation and consistency guarantees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22262" y="3810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The Architectural Problem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73062" y="1219200"/>
            <a:ext cx="7132637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a distributed system: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real-time seismic streams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 frequency-based events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Survive processing node failures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Preserve data consistency 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interrupting operational visibility?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228600" y="4572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Separation of Responsabilities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304800" y="1219200"/>
            <a:ext cx="76962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is structured into three independent planes: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Plane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Processing &amp; Intelligence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Plane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Resilience &amp; Fault Management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Plane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Access &amp; Monitoring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plane isolates a different system responsibility.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34962" y="4191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High-Level System Flow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7772400" y="5257800"/>
            <a:ext cx="685800" cy="2286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696200" y="5029200"/>
            <a:ext cx="685800" cy="4572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7467600" y="4876800"/>
            <a:ext cx="1447800" cy="7620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7772400" y="5486400"/>
            <a:ext cx="1143000" cy="3048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7262812" y="4865687"/>
            <a:ext cx="1219200" cy="685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495800" y="6605587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25525"/>
            <a:ext cx="9144000" cy="48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228600" y="211137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Deployment Model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258762" y="974725"/>
            <a:ext cx="7924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services: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Simulator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data ingestion source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message fan‑out to processing services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Replicas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scalable analysis units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Persistent Storage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PostgreSQL event store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aggregated API façade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Layer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UI served via nginx reverse proxy + React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Containerized orchestration ensures isolation, reproducibility and deterministic networking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81000" y="252412"/>
            <a:ext cx="829468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Data Plane | Ingestion Model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381000" y="985837"/>
            <a:ext cx="829468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Broker: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Discovers sensors via REST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Maintains one WebSocket per sensor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Forwards each sample to all processing replicas 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creates an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at-least-once delivery model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Duplicates are possible by design.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broker is completely stateless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it does not perform FFT or persistence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436562" y="355600"/>
            <a:ext cx="7686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Data Plane | Processing Logic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500062" y="1125537"/>
            <a:ext cx="755967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processing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Replica: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Receives samples via HTTP POST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Maintains a per-sensor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sliding window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Runs FFT to extract dominant frequency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Classifies event by frequency band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Writes to PostgreSQL using an idempotent </a:t>
            </a:r>
            <a:r>
              <a:rPr b="0" i="0" lang="en-US" sz="1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dedup_key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Classification Model: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" name="Google Shape;174;p23"/>
          <p:cNvGraphicFramePr/>
          <p:nvPr/>
        </p:nvGraphicFramePr>
        <p:xfrm>
          <a:off x="53340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{E89CBEA0-76B1-44CC-8DB1-BEED4A2828AC}</a:tableStyleId>
              </a:tblPr>
              <a:tblGrid>
                <a:gridCol w="29718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 Range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 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0.5–3 Hz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Earthquake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3–8 Hz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Explosion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≥8 Hz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22433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82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Nuclear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228600" y="344487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Data Plane | Idempotent Persistence Strategy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381000" y="1143000"/>
            <a:ext cx="8382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both replicas process the same samples,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may classify the same event.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guarantee consistency: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Courier New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dedup_key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(CHAR(64), UNIQUE)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Courier New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INSERT ... ON CONFLICT DO NOTHING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PostgreSQL as consistency anchor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database becomes the </a:t>
            </a:r>
            <a:r>
              <a:rPr b="1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source of truth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replicas.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304800" y="381000"/>
            <a:ext cx="771207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Persisted Event (JSON Response)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457200" y="2335212"/>
            <a:ext cx="6854825" cy="347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"dedup_key": "a1b2c3…",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"sensor_id": "sensor-11",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"classification": "conventional_explosion",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"dominant_frequency_hz": 6.719,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"energy": 123.45,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"detected_at": "2026-03-28T14:24:02.650816+00:00",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"replica_id": "1",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"created_at": "2026-03-28T14:24:03.120000+00:00"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414337" y="1184275"/>
            <a:ext cx="78581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Persisted classified event, exposed by the gateway API as the authoritative view of the system’s intelligence layer.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228600" y="266700"/>
            <a:ext cx="792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Data Plane | User Stories | Intelligence&amp;Processing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228600" y="1143000"/>
            <a:ext cx="8991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Transforming raw seismic telemetry into tactical information.”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US-03: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classify signals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asses nature of vibration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US-07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an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Administrator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replicate processing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across containers, so that system keeps operating after shut 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US-08: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Steward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idempotent persistence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ensure that data from multiple replicas is stored without duplicates.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US-15: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a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Sliding window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samples per sensor to ensure that frequency analysis is consistent over 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Implementation: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Analysis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Fourier Transform on a sliding window of samples.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 Engine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automatic categorization based on frequency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Storage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PostgreSQL with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 logic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563562" y="4191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Data Plane | User Stories | Mockup </a:t>
            </a:r>
            <a:endParaRPr/>
          </a:p>
        </p:txBody>
      </p:sp>
      <p:pic>
        <p:nvPicPr>
          <p:cNvPr id="206" name="Google Shape;206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275" y="1295400"/>
            <a:ext cx="753745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334962" y="2571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Control Plane | Fault Injection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34962" y="990600"/>
            <a:ext cx="7742237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replicas subscribe to: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/api/control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(SSE)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receiving: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{"command": "SHUTDOWN"}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Simulates a crash-stop failure model in the processing tier: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replica immediately terminates. 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228600" y="252412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Control Plane | Resilience Strategy</a:t>
            </a:r>
            <a:endParaRPr/>
          </a:p>
        </p:txBody>
      </p:sp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295275" y="990600"/>
            <a:ext cx="7832725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maintains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continuity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700"/>
              <a:buFont typeface="Arial"/>
              <a:buChar char="•"/>
            </a:pPr>
            <a:r>
              <a:rPr b="1" lang="en-US" sz="2000"/>
              <a:t>Active-Active Architecture:</a:t>
            </a:r>
            <a:r>
              <a:rPr lang="en-US" sz="2000"/>
              <a:t> Parallel signal processing across independent replicas.</a:t>
            </a:r>
            <a:endParaRPr sz="3300"/>
          </a:p>
          <a:p>
            <a:pPr indent="-4000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700"/>
              <a:buFont typeface="Arial"/>
              <a:buChar char="•"/>
            </a:pPr>
            <a:r>
              <a:rPr b="1" lang="en-US" sz="2000"/>
              <a:t>Fan-Out Broadcast:</a:t>
            </a:r>
            <a:r>
              <a:rPr lang="en-US" sz="2000"/>
              <a:t> Stateless broker sends identical data streams to all nodes simultaneously.</a:t>
            </a:r>
            <a:endParaRPr sz="3300"/>
          </a:p>
          <a:p>
            <a:pPr indent="-4000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700"/>
              <a:buFont typeface="Arial"/>
              <a:buChar char="•"/>
            </a:pPr>
            <a:r>
              <a:rPr b="1" lang="en-US" sz="2000"/>
              <a:t>Zero Ingestion Downtime:</a:t>
            </a:r>
            <a:r>
              <a:rPr lang="en-US" sz="2000"/>
              <a:t> Failure is isolated; data ingestion continues seamlessly on surviving nodes.</a:t>
            </a:r>
            <a:endParaRPr sz="3300"/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293687" y="4191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Control Pane | User Stories | Resilience&amp;Survival</a:t>
            </a:r>
            <a:endParaRPr/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334962" y="1143000"/>
            <a:ext cx="77993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Ensuring system continuity under infrastructure destruction.”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US-11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Officer,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want replicas to self-terminate upon an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SSE SHUTDOWN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 to simulate node destruction.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US-12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User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to monitor the Health Status of all distributed nodes to ensure system availability.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Implementation: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 Injection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 Monitoring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periodic health checks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Reconfiguration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failure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563562" y="430212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Control Plane | User Stories | Mockup</a:t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27175"/>
            <a:ext cx="75438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304800" y="400050"/>
            <a:ext cx="77120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Management Plane | CommandCenter&amp;Access</a:t>
            </a:r>
            <a:endParaRPr/>
          </a:p>
        </p:txBody>
      </p:sp>
      <p:sp>
        <p:nvSpPr>
          <p:cNvPr id="246" name="Google Shape;246;p32"/>
          <p:cNvSpPr txBox="1"/>
          <p:nvPr>
            <p:ph idx="1" type="body"/>
          </p:nvPr>
        </p:nvSpPr>
        <p:spPr>
          <a:xfrm>
            <a:off x="325437" y="1143000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lang="en-US" sz="1800"/>
              <a:t>Isolating user access from core processing logic</a:t>
            </a:r>
            <a:endParaRPr sz="1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3810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</a:pPr>
            <a:r>
              <a:rPr b="1" lang="en-US" sz="1700"/>
              <a:t>Stateless Gateway:</a:t>
            </a:r>
            <a:r>
              <a:rPr lang="en-US" sz="1700"/>
              <a:t> Acts as an aggregated API façade, decoupling the UI from the processing nodes.</a:t>
            </a:r>
            <a:endParaRPr sz="3000"/>
          </a:p>
          <a:p>
            <a:pPr indent="-3810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</a:pPr>
            <a:r>
              <a:rPr b="1" lang="en-US" sz="1700"/>
              <a:t>Role-Based Interfaces:</a:t>
            </a:r>
            <a:r>
              <a:rPr lang="en-US" sz="1700"/>
              <a:t> Tailored data exposure for Commanders, Analysts, and IT Admins.</a:t>
            </a:r>
            <a:endParaRPr sz="3000"/>
          </a:p>
          <a:p>
            <a:pPr indent="-3810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</a:pPr>
            <a:r>
              <a:rPr b="1" lang="en-US" sz="1700"/>
              <a:t>Single Source of Truth:</a:t>
            </a:r>
            <a:r>
              <a:rPr lang="en-US" sz="1700"/>
              <a:t> All historical and durable intelligence is exclusively queried from PostgreSQL.</a:t>
            </a:r>
            <a:endParaRPr sz="3000"/>
          </a:p>
          <a:p>
            <a:pPr indent="-3810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</a:pPr>
            <a:r>
              <a:rPr b="1" lang="en-US" sz="1700"/>
              <a:t>Web Container:</a:t>
            </a:r>
            <a:r>
              <a:rPr lang="en-US" sz="1700"/>
              <a:t> Serves the React SPA via Nginx proxy, ensuring isolated and secure browser access.</a:t>
            </a:r>
            <a:endParaRPr sz="3000"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381000" y="4191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Management Plane | User Stories | UI</a:t>
            </a:r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360362" y="1020762"/>
            <a:ext cx="8097837" cy="4694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lightweight, secure interface for the Command Center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US-04/05/06: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Defence Operator 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</a:t>
            </a: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classified signals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trigger defense protocols.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US-09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Command-Center Op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., I want a real-time dashboard to visualize recent events and system health.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US-10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Strategic Researcher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need historical log of persisted threats so that patterns in activity can be reviewed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US-13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 Analyst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want to show the sensor ID for every alert, so that the source channel of the detection is explicit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Implementation:.</a:t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Visualization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Multi-Color classification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including time of detection and Sensor 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563562" y="7620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Management Plane | User Stories | Mockup</a:t>
            </a:r>
            <a:endParaRPr/>
          </a:p>
        </p:txBody>
      </p:sp>
      <p:pic>
        <p:nvPicPr>
          <p:cNvPr id="262" name="Google Shape;262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62" y="1905000"/>
            <a:ext cx="7559675" cy="21701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347662" y="409575"/>
            <a:ext cx="79914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DEMO SETUP</a:t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47662" y="1295400"/>
            <a:ext cx="7319962" cy="241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1" lang="en-US" sz="1800"/>
              <a:t>Clone the repository</a:t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lang="en-US" sz="1800"/>
              <a:t>git clone https://github.com/Samuelecoccoletti/Project-42.git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lang="en-US" sz="1800"/>
              <a:t>cd Project-42/source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1" lang="en-US" sz="1800"/>
              <a:t>Load Simulator &amp; Start the Stack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lang="en-US" sz="1800"/>
              <a:t>docker load -i seismic-signal-simulator.tar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lang="en-US" sz="1800"/>
              <a:t>docker compose up --build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0" sz="18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47662" y="4114800"/>
            <a:ext cx="68151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the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dashboard: http://localhost:3000/docs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Check: http://localhost:8090/health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type="title"/>
          </p:nvPr>
        </p:nvSpPr>
        <p:spPr>
          <a:xfrm>
            <a:off x="122237" y="381000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122237" y="1143000"/>
            <a:ext cx="8966200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1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This System Demonstrates: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1" i="1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distributed ingestion architecture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Replica-based parallel signal processing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Controlled fault simulation via SSE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persistence under concurrent processing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prioritizes continuity of intelligence even under partial system degradation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22433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