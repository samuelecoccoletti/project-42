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orient="horz" pos="1728">
          <p15:clr>
            <a:srgbClr val="000000"/>
          </p15:clr>
        </p15:guide>
        <p15:guide id="3" orient="horz" pos="336">
          <p15:clr>
            <a:srgbClr val="000000"/>
          </p15:clr>
        </p15:guide>
        <p15:guide id="4" orient="horz" pos="552">
          <p15:clr>
            <a:srgbClr val="000000"/>
          </p15:clr>
        </p15:guide>
        <p15:guide id="5" orient="horz" pos="3984">
          <p15:clr>
            <a:srgbClr val="000000"/>
          </p15:clr>
        </p15:guide>
        <p15:guide id="6" pos="2880">
          <p15:clr>
            <a:srgbClr val="000000"/>
          </p15:clr>
        </p15:guide>
        <p15:guide id="7" pos="1484">
          <p15:clr>
            <a:srgbClr val="000000"/>
          </p15:clr>
        </p15:guide>
        <p15:guide id="8">
          <p15:clr>
            <a:srgbClr val="000000"/>
          </p15:clr>
        </p15:guide>
      </p15:sldGuideLst>
    </p:ext>
    <p:ext uri="{2D200454-40CA-4A62-9FC3-DE9A4176ACB9}">
      <p15:notes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9E96B9-E6FD-405F-88AF-581302894B77}">
  <a:tblStyle styleId="{C89E96B9-E6FD-405F-88AF-581302894B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1728" orient="horz"/>
        <p:guide pos="336" orient="horz"/>
        <p:guide pos="552" orient="horz"/>
        <p:guide pos="3984" orient="horz"/>
        <p:guide pos="2880"/>
        <p:guide pos="1484"/>
        <p:guide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107" name="Google Shape;10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8" name="Google Shape;108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/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/>
            </a:lvl3pPr>
            <a:lvl4pPr lvl="3" algn="ctr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4pPr>
            <a:lvl5pPr lvl="4" algn="ctr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1" name="Google Shape;21;p2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116012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116012" y="1752600"/>
            <a:ext cx="7559675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grafico" type="chart">
  <p:cSld name="CHAR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116013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/>
          <p:nvPr>
            <p:ph idx="2" type="chart"/>
          </p:nvPr>
        </p:nvSpPr>
        <p:spPr>
          <a:xfrm>
            <a:off x="1116013" y="1752600"/>
            <a:ext cx="7559675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Char char="•"/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»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abella" type="tbl">
  <p:cSld name="TABLE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/>
          <p:nvPr>
            <p:ph type="title"/>
          </p:nvPr>
        </p:nvSpPr>
        <p:spPr>
          <a:xfrm>
            <a:off x="1116013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, testo e contenuto" type="txAndObj">
  <p:cSld name="TEXT_AND_OBJEC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/>
          <p:nvPr>
            <p:ph type="title"/>
          </p:nvPr>
        </p:nvSpPr>
        <p:spPr>
          <a:xfrm>
            <a:off x="1116013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1116013" y="1752600"/>
            <a:ext cx="3703637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2" type="body"/>
          </p:nvPr>
        </p:nvSpPr>
        <p:spPr>
          <a:xfrm>
            <a:off x="4972050" y="1752600"/>
            <a:ext cx="3703638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olo e testo verticale" type="vertTitleAndTx">
  <p:cSld name="VERTICAL_TITLE_AND_VERTICAL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"/>
          <p:cNvSpPr txBox="1"/>
          <p:nvPr>
            <p:ph type="title"/>
          </p:nvPr>
        </p:nvSpPr>
        <p:spPr>
          <a:xfrm rot="5400000">
            <a:off x="5002213" y="2193925"/>
            <a:ext cx="5457825" cy="1889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" type="body"/>
          </p:nvPr>
        </p:nvSpPr>
        <p:spPr>
          <a:xfrm rot="5400000">
            <a:off x="1146176" y="379413"/>
            <a:ext cx="5457825" cy="551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esto verticale" type="vertTx">
  <p:cSld name="VERTICAL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1116012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" type="body"/>
          </p:nvPr>
        </p:nvSpPr>
        <p:spPr>
          <a:xfrm rot="5400000">
            <a:off x="2838449" y="30163"/>
            <a:ext cx="4114800" cy="7559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magine con didascalia" type="picTx">
  <p:cSld name="PICTURE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/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/>
          <p:nvPr>
            <p:ph idx="2" type="pic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SzPts val="1600"/>
              <a:buFont typeface="Arial"/>
              <a:buNone/>
              <a:defRPr sz="16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4" name="Google Shape;64;p9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to con didascalia" type="objTx">
  <p:cSld name="OBJECT_WITH_CAPTION_TEX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" type="body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SzPts val="3200"/>
              <a:buFont typeface="Arial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»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70" name="Google Shape;70;p10"/>
          <p:cNvSpPr txBox="1"/>
          <p:nvPr>
            <p:ph idx="2" type="body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SzPts val="1600"/>
              <a:buFont typeface="Arial"/>
              <a:buNone/>
              <a:defRPr sz="16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1" name="Google Shape;71;p10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uota" type="blank">
  <p:cSld name="BLANK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 type="titleOnly">
  <p:cSld name="TITLE_ONLY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1116012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ronto" type="twoTxTwoObj">
  <p:cSld name="TWO_OBJECTS_WITH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6" name="Google Shape;86;p13"/>
          <p:cNvSpPr txBox="1"/>
          <p:nvPr>
            <p:ph idx="2" type="body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13"/>
          <p:cNvSpPr txBox="1"/>
          <p:nvPr>
            <p:ph idx="3" type="body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8" name="Google Shape;88;p13"/>
          <p:cNvSpPr txBox="1"/>
          <p:nvPr>
            <p:ph idx="4" type="body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3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3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e contenuti" type="twoObj">
  <p:cSld name="TWO_OBJECT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1116012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1116013" y="1752600"/>
            <a:ext cx="3703637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idx="2" type="body"/>
          </p:nvPr>
        </p:nvSpPr>
        <p:spPr>
          <a:xfrm>
            <a:off x="4972050" y="1752600"/>
            <a:ext cx="3703638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6" name="Google Shape;96;p14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4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stazione sezione" type="secHead">
  <p:cSld name="SECTION_HEADER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5"/>
          <p:cNvSpPr txBox="1"/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5"/>
          <p:cNvSpPr txBox="1"/>
          <p:nvPr>
            <p:ph idx="1" type="body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2" name="Google Shape;102;p15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15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5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6096000"/>
            <a:ext cx="9144000" cy="762000"/>
            <a:chOff x="0" y="3840"/>
            <a:chExt cx="5760" cy="480"/>
          </a:xfrm>
        </p:grpSpPr>
        <p:sp>
          <p:nvSpPr>
            <p:cNvPr id="11" name="Google Shape;11;p1"/>
            <p:cNvSpPr txBox="1"/>
            <p:nvPr/>
          </p:nvSpPr>
          <p:spPr>
            <a:xfrm>
              <a:off x="0" y="3984"/>
              <a:ext cx="5760" cy="336"/>
            </a:xfrm>
            <a:prstGeom prst="rect">
              <a:avLst/>
            </a:prstGeom>
            <a:solidFill>
              <a:srgbClr val="8224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1"/>
            <p:cNvSpPr txBox="1"/>
            <p:nvPr/>
          </p:nvSpPr>
          <p:spPr>
            <a:xfrm>
              <a:off x="768" y="3840"/>
              <a:ext cx="4992" cy="480"/>
            </a:xfrm>
            <a:prstGeom prst="rect">
              <a:avLst/>
            </a:prstGeom>
            <a:solidFill>
              <a:srgbClr val="8224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" name="Google Shape;13;p1"/>
          <p:cNvSpPr txBox="1"/>
          <p:nvPr>
            <p:ph type="title"/>
          </p:nvPr>
        </p:nvSpPr>
        <p:spPr>
          <a:xfrm>
            <a:off x="1116012" y="4095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" type="body"/>
          </p:nvPr>
        </p:nvSpPr>
        <p:spPr>
          <a:xfrm>
            <a:off x="1116012" y="1752600"/>
            <a:ext cx="7559675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marR="0" rtl="0" algn="l"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»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1"/>
          <p:cNvSpPr txBox="1"/>
          <p:nvPr>
            <p:ph idx="10" type="dt"/>
          </p:nvPr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1"/>
          <p:cNvSpPr txBox="1"/>
          <p:nvPr>
            <p:ph idx="11" type="ftr"/>
          </p:nvPr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1"/>
          <p:cNvSpPr txBox="1"/>
          <p:nvPr>
            <p:ph idx="12" type="sldNum"/>
          </p:nvPr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Pagina </a:t>
            </a: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>
            <p:ph idx="1" type="subTitle"/>
          </p:nvPr>
        </p:nvSpPr>
        <p:spPr>
          <a:xfrm>
            <a:off x="2243137" y="795337"/>
            <a:ext cx="613886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/>
          </a:p>
        </p:txBody>
      </p:sp>
      <p:grpSp>
        <p:nvGrpSpPr>
          <p:cNvPr id="111" name="Google Shape;111;p16"/>
          <p:cNvGrpSpPr/>
          <p:nvPr/>
        </p:nvGrpSpPr>
        <p:grpSpPr>
          <a:xfrm>
            <a:off x="0" y="-19050"/>
            <a:ext cx="9144000" cy="7256462"/>
            <a:chOff x="-6" y="0"/>
            <a:chExt cx="5760" cy="4571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-6" y="0"/>
              <a:ext cx="5760" cy="2160"/>
            </a:xfrm>
            <a:prstGeom prst="rect">
              <a:avLst/>
            </a:prstGeom>
            <a:solidFill>
              <a:srgbClr val="C0CED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3" name="Google Shape;113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6" y="1979"/>
              <a:ext cx="5760" cy="259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/>
          <p:cNvSpPr txBox="1"/>
          <p:nvPr>
            <p:ph type="ctrTitle"/>
          </p:nvPr>
        </p:nvSpPr>
        <p:spPr>
          <a:xfrm>
            <a:off x="914400" y="1122362"/>
            <a:ext cx="7010400" cy="26876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800"/>
              <a:buFont typeface="Arial"/>
              <a:buNone/>
            </a:pPr>
            <a:r>
              <a:rPr b="1" i="0" lang="en-US" sz="28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Resilient Microservices Architecture</a:t>
            </a:r>
            <a:br>
              <a:rPr b="1" i="0" lang="en-US" sz="28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for Real-Time Seismic Signal Classification</a:t>
            </a:r>
            <a:b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1" i="0" lang="en-US" sz="60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</p:txBody>
      </p:sp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1223962" y="2476500"/>
            <a:ext cx="663257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b="0" i="1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At-least-once ingestion</a:t>
            </a:r>
            <a:br>
              <a:rPr b="0" i="1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1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Replica-based processing</a:t>
            </a:r>
            <a:br>
              <a:rPr b="0" i="1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1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Fault isolation and consistency guarantees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/>
          <p:nvPr>
            <p:ph type="title"/>
          </p:nvPr>
        </p:nvSpPr>
        <p:spPr>
          <a:xfrm>
            <a:off x="322262" y="3810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The Architectural Problem</a:t>
            </a:r>
            <a:endParaRPr/>
          </a:p>
        </p:txBody>
      </p:sp>
      <p:sp>
        <p:nvSpPr>
          <p:cNvPr id="125" name="Google Shape;125;p18"/>
          <p:cNvSpPr txBox="1"/>
          <p:nvPr>
            <p:ph idx="1" type="body"/>
          </p:nvPr>
        </p:nvSpPr>
        <p:spPr>
          <a:xfrm>
            <a:off x="373062" y="1219200"/>
            <a:ext cx="7132637" cy="31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can a distributed system: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Process real-time seismic streams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Classify frequency-based events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Survive processing node failures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Preserve data consistency </a:t>
            </a:r>
            <a:endParaRPr/>
          </a:p>
          <a:p>
            <a:pPr indent="-2286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without interrupting operational visibility?</a:t>
            </a:r>
            <a:endParaRPr/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8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27" name="Google Shape;127;p18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228600" y="4572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Separation of Responsabilities</a:t>
            </a:r>
            <a:endParaRPr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304800" y="1219200"/>
            <a:ext cx="76962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system is structured into three independent planes: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Plane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Processing &amp; Intelligence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Control Plane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Resilience &amp; Fault Management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Management Plane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Access &amp; Monitoring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plane isolates a different system responsibility.</a:t>
            </a:r>
            <a:endParaRPr/>
          </a:p>
        </p:txBody>
      </p:sp>
      <p:sp>
        <p:nvSpPr>
          <p:cNvPr id="134" name="Google Shape;134;p19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35" name="Google Shape;135;p19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>
            <p:ph type="title"/>
          </p:nvPr>
        </p:nvSpPr>
        <p:spPr>
          <a:xfrm>
            <a:off x="334962" y="4191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High-Level System Flow</a:t>
            </a:r>
            <a:endParaRPr/>
          </a:p>
        </p:txBody>
      </p:sp>
      <p:sp>
        <p:nvSpPr>
          <p:cNvPr id="141" name="Google Shape;141;p20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42" name="Google Shape;142;p20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143" name="Google Shape;143;p20"/>
          <p:cNvSpPr/>
          <p:nvPr/>
        </p:nvSpPr>
        <p:spPr>
          <a:xfrm>
            <a:off x="7772400" y="5257800"/>
            <a:ext cx="685800" cy="2286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0"/>
          <p:cNvSpPr/>
          <p:nvPr/>
        </p:nvSpPr>
        <p:spPr>
          <a:xfrm>
            <a:off x="7696200" y="5029200"/>
            <a:ext cx="685800" cy="4572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0"/>
          <p:cNvSpPr/>
          <p:nvPr/>
        </p:nvSpPr>
        <p:spPr>
          <a:xfrm>
            <a:off x="7467600" y="4876800"/>
            <a:ext cx="1447800" cy="7620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0"/>
          <p:cNvSpPr/>
          <p:nvPr/>
        </p:nvSpPr>
        <p:spPr>
          <a:xfrm>
            <a:off x="7772400" y="5486400"/>
            <a:ext cx="1143000" cy="3048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0"/>
          <p:cNvSpPr/>
          <p:nvPr/>
        </p:nvSpPr>
        <p:spPr>
          <a:xfrm>
            <a:off x="7262812" y="4865687"/>
            <a:ext cx="1219200" cy="6858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0"/>
          <p:cNvSpPr/>
          <p:nvPr/>
        </p:nvSpPr>
        <p:spPr>
          <a:xfrm>
            <a:off x="4495800" y="6605587"/>
            <a:ext cx="914400" cy="9144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25525"/>
            <a:ext cx="9144000" cy="480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228600" y="211137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Deployment Model</a:t>
            </a:r>
            <a:endParaRPr/>
          </a:p>
        </p:txBody>
      </p:sp>
      <p:sp>
        <p:nvSpPr>
          <p:cNvPr id="155" name="Google Shape;155;p21"/>
          <p:cNvSpPr txBox="1"/>
          <p:nvPr>
            <p:ph idx="1" type="body"/>
          </p:nvPr>
        </p:nvSpPr>
        <p:spPr>
          <a:xfrm>
            <a:off x="258762" y="974725"/>
            <a:ext cx="7924800" cy="24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Core services: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Simulator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data ingestion source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Broker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message fan‑out to processing services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Processing Replicas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scalable analysis units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Persistent Storage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PostgreSQL event store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Gateway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aggregated API façade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Web Layer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UI served via nginx reverse proxy + React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Containerized orchestration ensures isolation, reproducibility and deterministic networking</a:t>
            </a:r>
            <a:endParaRPr/>
          </a:p>
        </p:txBody>
      </p:sp>
      <p:sp>
        <p:nvSpPr>
          <p:cNvPr id="156" name="Google Shape;156;p21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57" name="Google Shape;157;p21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/>
          <p:nvPr>
            <p:ph type="title"/>
          </p:nvPr>
        </p:nvSpPr>
        <p:spPr>
          <a:xfrm>
            <a:off x="381000" y="252412"/>
            <a:ext cx="8294687" cy="738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Data Plane | Ingestion Model</a:t>
            </a:r>
            <a:endParaRPr/>
          </a:p>
        </p:txBody>
      </p:sp>
      <p:sp>
        <p:nvSpPr>
          <p:cNvPr id="163" name="Google Shape;163;p22"/>
          <p:cNvSpPr txBox="1"/>
          <p:nvPr>
            <p:ph idx="1" type="body"/>
          </p:nvPr>
        </p:nvSpPr>
        <p:spPr>
          <a:xfrm>
            <a:off x="381000" y="985837"/>
            <a:ext cx="8294687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Broker: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Discovers sensors via REST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Maintains one WebSocket per sensor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Forwards each sample to all processing replicas </a:t>
            </a:r>
            <a:endParaRPr/>
          </a:p>
          <a:p>
            <a:pPr indent="-2286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creates an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at-least-once delivery model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Duplicates are possible by design.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broker is completely stateless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it does not perform FFT or persistence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2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65" name="Google Shape;165;p22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3"/>
          <p:cNvSpPr txBox="1"/>
          <p:nvPr>
            <p:ph type="title"/>
          </p:nvPr>
        </p:nvSpPr>
        <p:spPr>
          <a:xfrm>
            <a:off x="436562" y="355600"/>
            <a:ext cx="76866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Data Plane | Processing Logic</a:t>
            </a:r>
            <a:endParaRPr/>
          </a:p>
        </p:txBody>
      </p:sp>
      <p:sp>
        <p:nvSpPr>
          <p:cNvPr id="171" name="Google Shape;171;p23"/>
          <p:cNvSpPr txBox="1"/>
          <p:nvPr>
            <p:ph idx="1" type="body"/>
          </p:nvPr>
        </p:nvSpPr>
        <p:spPr>
          <a:xfrm>
            <a:off x="500062" y="1125537"/>
            <a:ext cx="755967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processing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Replica: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AutoNum type="arabicPeriod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Receives samples via HTTP POST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AutoNum type="arabicPeriod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Maintains a per-sensor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sliding window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AutoNum type="arabicPeriod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Runs FFT to extract dominant frequency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AutoNum type="arabicPeriod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Classifies event by frequency band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AutoNum type="arabicPeriod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Writes to PostgreSQL using an idempotent </a:t>
            </a: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dedup_key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Courier New"/>
              <a:buNone/>
            </a:pP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Classification Model:</a:t>
            </a:r>
            <a:endParaRPr/>
          </a:p>
        </p:txBody>
      </p:sp>
      <p:sp>
        <p:nvSpPr>
          <p:cNvPr id="172" name="Google Shape;172;p23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73" name="Google Shape;173;p23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graphicFrame>
        <p:nvGraphicFramePr>
          <p:cNvPr id="174" name="Google Shape;174;p23"/>
          <p:cNvGraphicFramePr/>
          <p:nvPr/>
        </p:nvGraphicFramePr>
        <p:xfrm>
          <a:off x="533400" y="3886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{C89E96B9-E6FD-405F-88AF-581302894B77}</a:tableStyleId>
              </a:tblPr>
              <a:tblGrid>
                <a:gridCol w="2971800"/>
                <a:gridCol w="3048000"/>
              </a:tblGrid>
              <a:tr h="365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Frequency Range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Event Type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22433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8224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0.5–3 Hz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22433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8224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Earthquake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7F3F4"/>
                    </a:solidFill>
                  </a:tcPr>
                </a:tc>
              </a:tr>
              <a:tr h="369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22433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8224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3–8 Hz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9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22433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8224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Explosion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9FA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22433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8224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≥8 Hz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22433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8224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Nuclear</a:t>
                      </a:r>
                      <a:endParaRPr/>
                    </a:p>
                  </a:txBody>
                  <a:tcPr marT="45700" marB="45700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7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/>
          <p:nvPr>
            <p:ph type="title"/>
          </p:nvPr>
        </p:nvSpPr>
        <p:spPr>
          <a:xfrm>
            <a:off x="228600" y="344487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Data Plane | Idempotent Persistence Strategy</a:t>
            </a:r>
            <a:endParaRPr/>
          </a:p>
        </p:txBody>
      </p:sp>
      <p:sp>
        <p:nvSpPr>
          <p:cNvPr id="180" name="Google Shape;180;p24"/>
          <p:cNvSpPr txBox="1"/>
          <p:nvPr>
            <p:ph idx="1" type="body"/>
          </p:nvPr>
        </p:nvSpPr>
        <p:spPr>
          <a:xfrm>
            <a:off x="381000" y="1143000"/>
            <a:ext cx="838200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Because both replicas process the same samples,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they may classify the same event.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guarantee consistency: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Courier New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dedup_key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(CHAR(64), UNIQUE)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Courier New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INSERT ... ON CONFLICT DO NOTHING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Shared PostgreSQL as consistency anchor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database becomes the </a:t>
            </a:r>
            <a:r>
              <a:rPr b="1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single source of truth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across replicas.</a:t>
            </a:r>
            <a:endParaRPr/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82" name="Google Shape;182;p24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 txBox="1"/>
          <p:nvPr>
            <p:ph type="title"/>
          </p:nvPr>
        </p:nvSpPr>
        <p:spPr>
          <a:xfrm>
            <a:off x="304800" y="381000"/>
            <a:ext cx="7712075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Persisted Event (JSON Response)</a:t>
            </a:r>
            <a:endParaRPr/>
          </a:p>
        </p:txBody>
      </p:sp>
      <p:sp>
        <p:nvSpPr>
          <p:cNvPr id="188" name="Google Shape;188;p25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189" name="Google Shape;189;p25"/>
          <p:cNvSpPr txBox="1"/>
          <p:nvPr/>
        </p:nvSpPr>
        <p:spPr>
          <a:xfrm>
            <a:off x="1219200" y="6148387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Titolo Presentazione</a:t>
            </a:r>
            <a:endParaRPr/>
          </a:p>
        </p:txBody>
      </p:sp>
      <p:sp>
        <p:nvSpPr>
          <p:cNvPr id="190" name="Google Shape;190;p25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191" name="Google Shape;191;p25"/>
          <p:cNvSpPr txBox="1"/>
          <p:nvPr>
            <p:ph idx="1" type="body"/>
          </p:nvPr>
        </p:nvSpPr>
        <p:spPr>
          <a:xfrm>
            <a:off x="457200" y="2335212"/>
            <a:ext cx="6854825" cy="3471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"dedup_key": "a1b2c3…",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"sensor_id": "sensor-11",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"classification": "conventional_explosion",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"dominant_frequency_hz": 6.719,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"energy": 123.45,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"detected_at": "2026-03-28T14:24:02.650816+00:00",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"replica_id": "1",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"created_at": "2026-03-28T14:24:03.120000+00:00"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0" i="1" lang="en-US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/>
          </a:p>
        </p:txBody>
      </p:sp>
      <p:sp>
        <p:nvSpPr>
          <p:cNvPr id="192" name="Google Shape;192;p25"/>
          <p:cNvSpPr txBox="1"/>
          <p:nvPr/>
        </p:nvSpPr>
        <p:spPr>
          <a:xfrm>
            <a:off x="414337" y="1184275"/>
            <a:ext cx="785812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Persisted classified event, exposed by the gateway API as the authoritative view of the system’s intelligence layer.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228600" y="266700"/>
            <a:ext cx="792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Data Plane | User Stories | Intelligence&amp;Processing</a:t>
            </a:r>
            <a:endParaRPr/>
          </a:p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228600" y="1143000"/>
            <a:ext cx="8991600" cy="44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Transforming raw seismic telemetry into tactical information.”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US-03: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Analyst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 need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classify signals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asses nature of vibration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US-07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As an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 Administrator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 need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replicate processing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service across containers, so that system keeps operating after shut down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US-08: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Database Steward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 need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idempotent persistence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ensure that data from multiple replicas is stored without duplicates.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US-15: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Developer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 need a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Sliding window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of samples per sensor to ensure that frequency analysis is consistent over time.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Technical Implementation: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Signal Analysis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through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real-time Fourier Transform on a sliding window of samples.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Classification Engine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through automatic categorization based on frequency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Reliable Storage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based on PostgreSQL with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unique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constraint logic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00" name="Google Shape;200;p26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 txBox="1"/>
          <p:nvPr>
            <p:ph type="title"/>
          </p:nvPr>
        </p:nvSpPr>
        <p:spPr>
          <a:xfrm>
            <a:off x="563562" y="4191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Data Plane | User Stories | Mockup </a:t>
            </a:r>
            <a:endParaRPr/>
          </a:p>
        </p:txBody>
      </p:sp>
      <p:pic>
        <p:nvPicPr>
          <p:cNvPr id="206" name="Google Shape;206;p2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275" y="1295400"/>
            <a:ext cx="7537450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08" name="Google Shape;208;p27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8"/>
          <p:cNvSpPr txBox="1"/>
          <p:nvPr>
            <p:ph type="title"/>
          </p:nvPr>
        </p:nvSpPr>
        <p:spPr>
          <a:xfrm>
            <a:off x="334962" y="257175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Control Plane | Fault Injection</a:t>
            </a:r>
            <a:endParaRPr/>
          </a:p>
        </p:txBody>
      </p:sp>
      <p:sp>
        <p:nvSpPr>
          <p:cNvPr id="214" name="Google Shape;214;p28"/>
          <p:cNvSpPr txBox="1"/>
          <p:nvPr>
            <p:ph idx="1" type="body"/>
          </p:nvPr>
        </p:nvSpPr>
        <p:spPr>
          <a:xfrm>
            <a:off x="334962" y="990600"/>
            <a:ext cx="7742237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Processing replicas subscribe to: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Courier New"/>
              <a:buNone/>
            </a:pP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GET /api/control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(SSE)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receiving: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{"command": "SHUTDOWN"}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Simulates a crash-stop failure model in the processing tier: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replica immediately terminates. </a:t>
            </a:r>
            <a:endParaRPr/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16" name="Google Shape;216;p28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9"/>
          <p:cNvSpPr txBox="1"/>
          <p:nvPr>
            <p:ph type="title"/>
          </p:nvPr>
        </p:nvSpPr>
        <p:spPr>
          <a:xfrm>
            <a:off x="228600" y="252412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Control Plane | Resilience Strategy</a:t>
            </a:r>
            <a:endParaRPr/>
          </a:p>
        </p:txBody>
      </p:sp>
      <p:sp>
        <p:nvSpPr>
          <p:cNvPr id="222" name="Google Shape;222;p29"/>
          <p:cNvSpPr txBox="1"/>
          <p:nvPr>
            <p:ph idx="1" type="body"/>
          </p:nvPr>
        </p:nvSpPr>
        <p:spPr>
          <a:xfrm>
            <a:off x="295275" y="990600"/>
            <a:ext cx="7832725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system maintains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continuity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through: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Stateless broker (no dependency on replica state)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Independent processing replicas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Gateway health checks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Round-robin with failover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Shared durable storage </a:t>
            </a:r>
            <a:endParaRPr/>
          </a:p>
          <a:p>
            <a:pPr indent="-2286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Failure is isolated within the processing tier and data ingestion continues.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Previously persisted intelligence remains available</a:t>
            </a:r>
            <a:r>
              <a:rPr b="0" i="0" lang="en-US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1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system degrades in capacity, not in availability.</a:t>
            </a:r>
            <a:endParaRPr/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9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24" name="Google Shape;224;p29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0"/>
          <p:cNvSpPr txBox="1"/>
          <p:nvPr>
            <p:ph type="title"/>
          </p:nvPr>
        </p:nvSpPr>
        <p:spPr>
          <a:xfrm>
            <a:off x="293687" y="4191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Control Pane | User Stories | Resilience&amp;Survival</a:t>
            </a:r>
            <a:endParaRPr/>
          </a:p>
        </p:txBody>
      </p:sp>
      <p:sp>
        <p:nvSpPr>
          <p:cNvPr id="230" name="Google Shape;230;p30"/>
          <p:cNvSpPr txBox="1"/>
          <p:nvPr>
            <p:ph idx="1" type="body"/>
          </p:nvPr>
        </p:nvSpPr>
        <p:spPr>
          <a:xfrm>
            <a:off x="334962" y="1143000"/>
            <a:ext cx="7799387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Ensuring system continuity under infrastructure destruction.”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US-11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Security Officer,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 want replicas to self-terminate upon an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SSE SHUTDOWN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 to simulate node destruction.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US-12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Technical User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 need to monitor the Health Status of all distributed nodes to ensure system availability.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Technical Implementation: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Fault Injection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Active Monitoring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through periodic health checks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Dynamic Reconfiguration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after failure</a:t>
            </a:r>
            <a:endParaRPr/>
          </a:p>
        </p:txBody>
      </p:sp>
      <p:sp>
        <p:nvSpPr>
          <p:cNvPr id="231" name="Google Shape;231;p30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32" name="Google Shape;232;p30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1"/>
          <p:cNvSpPr txBox="1"/>
          <p:nvPr>
            <p:ph type="title"/>
          </p:nvPr>
        </p:nvSpPr>
        <p:spPr>
          <a:xfrm>
            <a:off x="563562" y="430212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Control Plane | User Stories | Mockup</a:t>
            </a:r>
            <a:endParaRPr/>
          </a:p>
        </p:txBody>
      </p:sp>
      <p:sp>
        <p:nvSpPr>
          <p:cNvPr id="238" name="Google Shape;238;p31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39" name="Google Shape;239;p31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pic>
        <p:nvPicPr>
          <p:cNvPr id="240" name="Google Shape;240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527175"/>
            <a:ext cx="75438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2"/>
          <p:cNvSpPr txBox="1"/>
          <p:nvPr>
            <p:ph type="title"/>
          </p:nvPr>
        </p:nvSpPr>
        <p:spPr>
          <a:xfrm>
            <a:off x="304800" y="400050"/>
            <a:ext cx="77120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Management Plane | CommandCenter&amp;Access</a:t>
            </a:r>
            <a:endParaRPr/>
          </a:p>
        </p:txBody>
      </p:sp>
      <p:sp>
        <p:nvSpPr>
          <p:cNvPr id="246" name="Google Shape;246;p32"/>
          <p:cNvSpPr txBox="1"/>
          <p:nvPr>
            <p:ph idx="1" type="body"/>
          </p:nvPr>
        </p:nvSpPr>
        <p:spPr>
          <a:xfrm>
            <a:off x="325437" y="1143000"/>
            <a:ext cx="8153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Gateway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Queries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PostgreSQL for historical events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Streams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new events via SSE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Aggregates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replica health (</a:t>
            </a: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/api/replicas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Proxies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processing replicas with failover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Web Container: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Serves the React SPA (port 3000) via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Nginx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Proxies </a:t>
            </a:r>
            <a:r>
              <a:rPr b="0" i="0" lang="en-US" sz="1800" u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/api/*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request to gateway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Ensures single-origin browser access </a:t>
            </a:r>
            <a:endParaRPr/>
          </a:p>
          <a:p>
            <a:pPr indent="-2286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gateway is stateless. All durable intelligence lives in PostgreSQL.</a:t>
            </a:r>
            <a:endParaRPr/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2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48" name="Google Shape;248;p32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/>
          <p:cNvSpPr txBox="1"/>
          <p:nvPr>
            <p:ph type="title"/>
          </p:nvPr>
        </p:nvSpPr>
        <p:spPr>
          <a:xfrm>
            <a:off x="381000" y="4191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Management Plane | User Stories | UI</a:t>
            </a:r>
            <a:endParaRPr/>
          </a:p>
        </p:txBody>
      </p:sp>
      <p:sp>
        <p:nvSpPr>
          <p:cNvPr id="254" name="Google Shape;254;p33"/>
          <p:cNvSpPr txBox="1"/>
          <p:nvPr>
            <p:ph idx="1" type="body"/>
          </p:nvPr>
        </p:nvSpPr>
        <p:spPr>
          <a:xfrm>
            <a:off x="360362" y="1020762"/>
            <a:ext cx="8097837" cy="46942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lightweight, secure interface for the Command Center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.”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US-04/05/06: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Defence Operator </a:t>
            </a:r>
            <a:r>
              <a:rPr b="0" i="0" lang="en-US" sz="16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need </a:t>
            </a: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classified signals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trigger defense protocols.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US-09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Command-Center Op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., I want a real-time dashboard to visualize recent events and system health.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US-10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As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Strategic Researcher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 need historical log of persisted threats so that patterns in activity can be reviewed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US-13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As a 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Field Analyst 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 want to show the sensor ID for every alert, so that the source channel of the detection is explicit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Technical Implementation:.</a:t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Real-time Visualization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Multi-Color classification </a:t>
            </a:r>
            <a:endParaRPr/>
          </a:p>
          <a:p>
            <a:pPr indent="-11430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Dashboard including time of detection and Sensor ID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3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56" name="Google Shape;256;p33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4"/>
          <p:cNvSpPr txBox="1"/>
          <p:nvPr>
            <p:ph type="title"/>
          </p:nvPr>
        </p:nvSpPr>
        <p:spPr>
          <a:xfrm>
            <a:off x="563562" y="7620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Management Plane | User Stories | Mockup</a:t>
            </a:r>
            <a:endParaRPr/>
          </a:p>
        </p:txBody>
      </p:sp>
      <p:pic>
        <p:nvPicPr>
          <p:cNvPr id="262" name="Google Shape;262;p3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3562" y="1905000"/>
            <a:ext cx="7559675" cy="217011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34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64" name="Google Shape;264;p34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5"/>
          <p:cNvSpPr txBox="1"/>
          <p:nvPr>
            <p:ph type="title"/>
          </p:nvPr>
        </p:nvSpPr>
        <p:spPr>
          <a:xfrm>
            <a:off x="347662" y="409575"/>
            <a:ext cx="79914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DEMO SETUP</a:t>
            </a:r>
            <a:endParaRPr/>
          </a:p>
        </p:txBody>
      </p:sp>
      <p:sp>
        <p:nvSpPr>
          <p:cNvPr id="270" name="Google Shape;270;p35"/>
          <p:cNvSpPr txBox="1"/>
          <p:nvPr>
            <p:ph idx="1" type="body"/>
          </p:nvPr>
        </p:nvSpPr>
        <p:spPr>
          <a:xfrm>
            <a:off x="347662" y="1295400"/>
            <a:ext cx="7319962" cy="2416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1" lang="en-US" sz="1800"/>
              <a:t>Clone the repository</a:t>
            </a:r>
            <a:endParaRPr b="1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lang="en-US" sz="1800"/>
              <a:t>git clone https://github.com/Samuelecoccoletti/Project-42.git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lang="en-US" sz="1800"/>
              <a:t>cd Project-42/source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1" lang="en-US" sz="1800"/>
              <a:t>Load Simulator &amp; Start the Stack</a:t>
            </a:r>
            <a:r>
              <a:rPr b="1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lang="en-US" sz="1800"/>
              <a:t>docker load -i seismic-signal-simulator.tar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lang="en-US" sz="1800"/>
              <a:t>docker compose up --build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0" sz="1800" u="sng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0" sz="1800" u="sng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0" sz="1800" u="sng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5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72" name="Google Shape;272;p35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273" name="Google Shape;273;p35"/>
          <p:cNvSpPr txBox="1"/>
          <p:nvPr/>
        </p:nvSpPr>
        <p:spPr>
          <a:xfrm>
            <a:off x="347662" y="4114800"/>
            <a:ext cx="6815100" cy="11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 sz="1800"/>
              <a:t>Access the System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US" sz="1800"/>
              <a:t>dashboard: http://localhost:3000/docs</a:t>
            </a:r>
            <a:endParaRPr/>
          </a:p>
          <a:p>
            <a:pPr indent="-3365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-US" sz="1700"/>
              <a:t>Health Check: http://localhost:8090/health</a:t>
            </a:r>
            <a:endParaRPr sz="17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6"/>
          <p:cNvSpPr txBox="1"/>
          <p:nvPr>
            <p:ph type="title"/>
          </p:nvPr>
        </p:nvSpPr>
        <p:spPr>
          <a:xfrm>
            <a:off x="122237" y="381000"/>
            <a:ext cx="755967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279" name="Google Shape;279;p36"/>
          <p:cNvSpPr txBox="1"/>
          <p:nvPr>
            <p:ph idx="1" type="body"/>
          </p:nvPr>
        </p:nvSpPr>
        <p:spPr>
          <a:xfrm>
            <a:off x="122237" y="1143000"/>
            <a:ext cx="8966200" cy="2990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1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This System Demonstrates: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1" i="1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Practical distributed ingestion architecture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Replica-based parallel signal processing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Controlled fault simulation via SSE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Char char="•"/>
            </a:pP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Consistent persistence under concurrent processing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rPr b="0" i="1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system prioritizes continuity of intelligence even under partial system degradation</a:t>
            </a:r>
            <a:r>
              <a:rPr b="0" i="0" lang="en-US" sz="18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-228600" lvl="0" marL="342900" marR="0" rtl="0" algn="l">
              <a:spcBef>
                <a:spcPts val="360"/>
              </a:spcBef>
              <a:spcAft>
                <a:spcPts val="0"/>
              </a:spcAft>
              <a:buClr>
                <a:srgbClr val="822433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6"/>
          <p:cNvSpPr txBox="1"/>
          <p:nvPr/>
        </p:nvSpPr>
        <p:spPr>
          <a:xfrm>
            <a:off x="43434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endParaRPr/>
          </a:p>
        </p:txBody>
      </p:sp>
      <p:sp>
        <p:nvSpPr>
          <p:cNvPr id="281" name="Google Shape;281;p36"/>
          <p:cNvSpPr txBox="1"/>
          <p:nvPr/>
        </p:nvSpPr>
        <p:spPr>
          <a:xfrm>
            <a:off x="6553200" y="6148387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en-US" sz="11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a sapienza">
  <a:themeElements>
    <a:clrScheme name="">
      <a:dk1>
        <a:srgbClr val="822433"/>
      </a:dk1>
      <a:lt1>
        <a:srgbClr val="FFFFFF"/>
      </a:lt1>
      <a:dk2>
        <a:srgbClr val="822433"/>
      </a:dk2>
      <a:lt2>
        <a:srgbClr val="808080"/>
      </a:lt2>
      <a:accent1>
        <a:srgbClr val="BBE0E3"/>
      </a:accent1>
      <a:accent2>
        <a:srgbClr val="FFFF00"/>
      </a:accent2>
      <a:accent3>
        <a:srgbClr val="FFFFFF"/>
      </a:accent3>
      <a:accent4>
        <a:srgbClr val="6E1D2A"/>
      </a:accent4>
      <a:accent5>
        <a:srgbClr val="DAEDEF"/>
      </a:accent5>
      <a:accent6>
        <a:srgbClr val="E7E700"/>
      </a:accent6>
      <a:hlink>
        <a:srgbClr val="0000FF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